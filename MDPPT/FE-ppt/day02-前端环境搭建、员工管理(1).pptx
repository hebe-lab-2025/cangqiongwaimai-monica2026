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78"/>
  </p:notesMasterIdLst>
  <p:handoutMasterIdLst>
    <p:handoutMasterId r:id="rId79"/>
  </p:handoutMasterIdLst>
  <p:sldIdLst>
    <p:sldId id="462" r:id="rId8"/>
    <p:sldId id="1880" r:id="rId9"/>
    <p:sldId id="1702" r:id="rId10"/>
    <p:sldId id="1929" r:id="rId11"/>
    <p:sldId id="2136" r:id="rId12"/>
    <p:sldId id="2138" r:id="rId13"/>
    <p:sldId id="2066" r:id="rId14"/>
    <p:sldId id="2135" r:id="rId15"/>
    <p:sldId id="2139" r:id="rId16"/>
    <p:sldId id="2140" r:id="rId17"/>
    <p:sldId id="2137" r:id="rId18"/>
    <p:sldId id="1991" r:id="rId19"/>
    <p:sldId id="2087" r:id="rId20"/>
    <p:sldId id="2141" r:id="rId21"/>
    <p:sldId id="2142" r:id="rId22"/>
    <p:sldId id="2092" r:id="rId23"/>
    <p:sldId id="2143" r:id="rId24"/>
    <p:sldId id="2144" r:id="rId25"/>
    <p:sldId id="2146" r:id="rId26"/>
    <p:sldId id="2147" r:id="rId27"/>
    <p:sldId id="2148" r:id="rId28"/>
    <p:sldId id="2149" r:id="rId29"/>
    <p:sldId id="2151" r:id="rId30"/>
    <p:sldId id="2150" r:id="rId31"/>
    <p:sldId id="2152" r:id="rId32"/>
    <p:sldId id="2145" r:id="rId33"/>
    <p:sldId id="2093" r:id="rId34"/>
    <p:sldId id="2153" r:id="rId35"/>
    <p:sldId id="2105" r:id="rId36"/>
    <p:sldId id="2106" r:id="rId37"/>
    <p:sldId id="2154" r:id="rId38"/>
    <p:sldId id="2014" r:id="rId39"/>
    <p:sldId id="2155" r:id="rId40"/>
    <p:sldId id="2109" r:id="rId41"/>
    <p:sldId id="2156" r:id="rId42"/>
    <p:sldId id="2157" r:id="rId43"/>
    <p:sldId id="2158" r:id="rId44"/>
    <p:sldId id="2159" r:id="rId45"/>
    <p:sldId id="2160" r:id="rId46"/>
    <p:sldId id="2161" r:id="rId47"/>
    <p:sldId id="2117" r:id="rId48"/>
    <p:sldId id="2119" r:id="rId49"/>
    <p:sldId id="2166" r:id="rId50"/>
    <p:sldId id="2162" r:id="rId51"/>
    <p:sldId id="2164" r:id="rId52"/>
    <p:sldId id="2167" r:id="rId53"/>
    <p:sldId id="2168" r:id="rId54"/>
    <p:sldId id="2169" r:id="rId55"/>
    <p:sldId id="2171" r:id="rId56"/>
    <p:sldId id="2170" r:id="rId57"/>
    <p:sldId id="2172" r:id="rId58"/>
    <p:sldId id="2173" r:id="rId59"/>
    <p:sldId id="2163" r:id="rId60"/>
    <p:sldId id="2165" r:id="rId61"/>
    <p:sldId id="2174" r:id="rId62"/>
    <p:sldId id="2175" r:id="rId63"/>
    <p:sldId id="2176" r:id="rId64"/>
    <p:sldId id="2177" r:id="rId65"/>
    <p:sldId id="2178" r:id="rId66"/>
    <p:sldId id="2179" r:id="rId67"/>
    <p:sldId id="2180" r:id="rId68"/>
    <p:sldId id="2181" r:id="rId69"/>
    <p:sldId id="2182" r:id="rId70"/>
    <p:sldId id="2183" r:id="rId71"/>
    <p:sldId id="2184" r:id="rId72"/>
    <p:sldId id="2185" r:id="rId73"/>
    <p:sldId id="2186" r:id="rId74"/>
    <p:sldId id="2187" r:id="rId75"/>
    <p:sldId id="2188" r:id="rId76"/>
    <p:sldId id="1704" r:id="rId7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er" initials="s" lastIdx="1" clrIdx="0">
    <p:extLst>
      <p:ext uri="{19B8F6BF-5375-455C-9EA6-DF929625EA0E}">
        <p15:presenceInfo xmlns:p15="http://schemas.microsoft.com/office/powerpoint/2012/main" userId="super" providerId="None"/>
      </p:ext>
    </p:extLst>
  </p:cmAuthor>
  <p:cmAuthor id="2" name="itcast" initials="i" lastIdx="1" clrIdx="1">
    <p:extLst>
      <p:ext uri="{19B8F6BF-5375-455C-9EA6-DF929625EA0E}">
        <p15:presenceInfo xmlns:p15="http://schemas.microsoft.com/office/powerpoint/2012/main" userId="itcas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4"/>
    <a:srgbClr val="FF0000"/>
    <a:srgbClr val="A144A5"/>
    <a:srgbClr val="92D050"/>
    <a:srgbClr val="D8EEC0"/>
    <a:srgbClr val="C00000"/>
    <a:srgbClr val="B37AB0"/>
    <a:srgbClr val="B475AD"/>
    <a:srgbClr val="D9F3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4883" autoAdjust="0"/>
  </p:normalViewPr>
  <p:slideViewPr>
    <p:cSldViewPr snapToGrid="0">
      <p:cViewPr varScale="1">
        <p:scale>
          <a:sx n="81" d="100"/>
          <a:sy n="81" d="100"/>
        </p:scale>
        <p:origin x="100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howGuides="1"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tableStyles" Target="tableStyles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viewProps" Target="view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2023/8/14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03195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07221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13115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536253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5250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402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6C6B16B-7FC0-904C-B475-F9CF5C74E3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2809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994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5388186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27934570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330076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6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63DA79-7D60-4A42-A1B3-9BB10C9E05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12" r:id="rId2"/>
    <p:sldLayoutId id="214748371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942E7471-620D-FA4E-A59B-D8C1A79C3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17" r:id="rId2"/>
    <p:sldLayoutId id="2147483719" r:id="rId3"/>
    <p:sldLayoutId id="2147483721" r:id="rId4"/>
    <p:sldLayoutId id="214748372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8479B63A-0E02-2349-8BED-44C85C23E174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ACD341D-631E-1C41-AA57-E78DF51FD162}"/>
              </a:ext>
            </a:extLst>
          </p:cNvPr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，用更短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时间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，教会更实用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的技术！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13C4AB-ADA7-6942-8140-5DC8E0577838}"/>
              </a:ext>
            </a:extLst>
          </p:cNvPr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C7863-89B5-3040-9FC7-D2B2A900C20B}"/>
              </a:ext>
            </a:extLst>
          </p:cNvPr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F68358-2C42-514C-A18F-D22A7C3B0412}"/>
              </a:ext>
            </a:extLst>
          </p:cNvPr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A90E8C-99EA-674B-BE48-642DDFA26B82}"/>
              </a:ext>
            </a:extLst>
          </p:cNvPr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DC5CCC4C-800E-9040-97B5-C1E1BE251216}"/>
              </a:ext>
            </a:extLst>
          </p:cNvPr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>
            <a:extLst>
              <a:ext uri="{FF2B5EF4-FFF2-40B4-BE49-F238E27FC236}">
                <a16:creationId xmlns:a16="http://schemas.microsoft.com/office/drawing/2014/main" id="{36B7D234-E207-414F-8E81-F360C01EFF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CBF3DED2-69B0-F340-BDFB-E540327A7264}"/>
              </a:ext>
            </a:extLst>
          </p:cNvPr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104775 w 2202525"/>
              <a:gd name="connsiteY3" fmla="*/ 272456 h 275631"/>
              <a:gd name="connsiteX4" fmla="*/ 0 w 2202525"/>
              <a:gd name="connsiteY4" fmla="*/ 0 h 275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840A94-AFCB-F14C-AC1D-7BFA5CCE05BC}"/>
              </a:ext>
            </a:extLst>
          </p:cNvPr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  <a:cs typeface="Alibaba PuHuiTi" pitchFamily="18" charset="-122"/>
              </a:rPr>
              <a:t>高级软件人才培训专家</a:t>
            </a:r>
          </a:p>
        </p:txBody>
      </p:sp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6" r:id="rId14"/>
    <p:sldLayoutId id="2147483710" r:id="rId15"/>
    <p:sldLayoutId id="2147483706" r:id="rId16"/>
    <p:sldLayoutId id="2147483713" r:id="rId17"/>
    <p:sldLayoutId id="2147483715" r:id="rId18"/>
    <p:sldLayoutId id="2147483720" r:id="rId19"/>
    <p:sldLayoutId id="2147483724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227BF9-01FA-AE4B-9DB9-E3DAB164E5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element.eleme.io/#/zh-CN/component/form" TargetMode="Externa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5400"/>
              <a:t>前端环境搭建、员工管理</a:t>
            </a:r>
            <a:endParaRPr kumimoji="1"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0CA72B-9BF3-8BBC-B29C-EF67187B1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31" y="1660551"/>
            <a:ext cx="9940161" cy="47578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标题 3">
            <a:extLst>
              <a:ext uri="{FF2B5EF4-FFF2-40B4-BE49-F238E27FC236}">
                <a16:creationId xmlns:a16="http://schemas.microsoft.com/office/drawing/2014/main" id="{914FEDB1-D28E-940B-3984-632C28B6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80" y="1002232"/>
            <a:ext cx="10698800" cy="517190"/>
          </a:xfrm>
        </p:spPr>
        <p:txBody>
          <a:bodyPr/>
          <a:lstStyle/>
          <a:p>
            <a:r>
              <a:rPr lang="zh-CN" altLang="en-US"/>
              <a:t>效果展示</a:t>
            </a:r>
          </a:p>
        </p:txBody>
      </p:sp>
    </p:spTree>
    <p:extLst>
      <p:ext uri="{BB962C8B-B14F-4D97-AF65-F5344CB8AC3E}">
        <p14:creationId xmlns:p14="http://schemas.microsoft.com/office/powerpoint/2010/main" val="1843208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17382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前端环境搭建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员工分页查询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启用、禁用员工账号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新增员工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修改员工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67235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前端环境搭建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106236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技术选型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熟悉前端代码结构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5208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技术选型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F37389-57BA-BE61-B084-0C852B9781C1}"/>
              </a:ext>
            </a:extLst>
          </p:cNvPr>
          <p:cNvSpPr/>
          <p:nvPr/>
        </p:nvSpPr>
        <p:spPr>
          <a:xfrm>
            <a:off x="910590" y="1870632"/>
            <a:ext cx="10470748" cy="3300458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node.js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vue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ElementUI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axios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vuex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vue-router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typescript</a:t>
            </a:r>
            <a:endParaRPr kumimoji="1"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14E931-FEEF-EC40-1AB1-51B260BF1705}"/>
              </a:ext>
            </a:extLst>
          </p:cNvPr>
          <p:cNvSpPr/>
          <p:nvPr/>
        </p:nvSpPr>
        <p:spPr>
          <a:xfrm>
            <a:off x="810662" y="1943097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技术选型</a:t>
            </a:r>
          </a:p>
        </p:txBody>
      </p:sp>
    </p:spTree>
    <p:extLst>
      <p:ext uri="{BB962C8B-B14F-4D97-AF65-F5344CB8AC3E}">
        <p14:creationId xmlns:p14="http://schemas.microsoft.com/office/powerpoint/2010/main" val="375115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前端环境搭建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106236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技术选型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熟悉前端代码结构</a:t>
            </a:r>
            <a:endParaRPr 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5273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熟悉前端代码结构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5B076-11D1-7451-17B8-AC44F59647C1}"/>
              </a:ext>
            </a:extLst>
          </p:cNvPr>
          <p:cNvSpPr/>
          <p:nvPr/>
        </p:nvSpPr>
        <p:spPr>
          <a:xfrm>
            <a:off x="910590" y="1870633"/>
            <a:ext cx="10470748" cy="152746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直接导入课程资料中提供的前端工程，在此基础上开发即可。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EEB7FC-64D8-050D-C407-421466635053}"/>
              </a:ext>
            </a:extLst>
          </p:cNvPr>
          <p:cNvSpPr/>
          <p:nvPr/>
        </p:nvSpPr>
        <p:spPr>
          <a:xfrm>
            <a:off x="810662" y="1943096"/>
            <a:ext cx="923545" cy="327137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代码导入</a:t>
            </a:r>
          </a:p>
        </p:txBody>
      </p:sp>
    </p:spTree>
    <p:extLst>
      <p:ext uri="{BB962C8B-B14F-4D97-AF65-F5344CB8AC3E}">
        <p14:creationId xmlns:p14="http://schemas.microsoft.com/office/powerpoint/2010/main" val="245719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熟悉前端代码结构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2BB66F-7456-93F6-1A20-4C68CCE6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29" y="1625141"/>
            <a:ext cx="2463927" cy="50739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76D9B3-1B73-7201-6B5D-D41D4958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739" y="1647733"/>
            <a:ext cx="2362321" cy="35625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677D8E3-BF1F-2AA9-87B7-1D85621412C1}"/>
              </a:ext>
            </a:extLst>
          </p:cNvPr>
          <p:cNvSpPr/>
          <p:nvPr/>
        </p:nvSpPr>
        <p:spPr>
          <a:xfrm>
            <a:off x="6814776" y="1647733"/>
            <a:ext cx="4835942" cy="356253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api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：存放封装了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请求文件的目录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components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：公共组件存放目录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views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：存放视图组件的目录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App.vue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：项目的主组件，页面的入口文件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main.ts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：整个项目的入口文件</a:t>
            </a:r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router.ts</a:t>
            </a:r>
            <a:r>
              <a:rPr kumimoji="1"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：路由文件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8E48FF-E2C0-F43F-65D6-C6EEE6677A1D}"/>
              </a:ext>
            </a:extLst>
          </p:cNvPr>
          <p:cNvSpPr/>
          <p:nvPr/>
        </p:nvSpPr>
        <p:spPr>
          <a:xfrm>
            <a:off x="6714846" y="1720195"/>
            <a:ext cx="1364981" cy="284107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重点文件</a:t>
            </a:r>
            <a:r>
              <a:rPr kumimoji="1" lang="en-US" altLang="zh-CN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/</a:t>
            </a:r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968418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熟悉前端代码结构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99652B-3375-F134-3E58-7DADAE4E76F5}"/>
              </a:ext>
            </a:extLst>
          </p:cNvPr>
          <p:cNvSpPr txBox="1"/>
          <p:nvPr/>
        </p:nvSpPr>
        <p:spPr>
          <a:xfrm>
            <a:off x="710880" y="1763648"/>
            <a:ext cx="10490520" cy="42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通过登录功能梳理前端代码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9475B0-1911-5449-BFFB-0E4A438A1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21" y="2430169"/>
            <a:ext cx="8647386" cy="404466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6782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熟悉前端代码结构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99652B-3375-F134-3E58-7DADAE4E76F5}"/>
              </a:ext>
            </a:extLst>
          </p:cNvPr>
          <p:cNvSpPr txBox="1"/>
          <p:nvPr/>
        </p:nvSpPr>
        <p:spPr>
          <a:xfrm>
            <a:off x="710880" y="1763648"/>
            <a:ext cx="3967526" cy="3249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通过登录功能梳理前端代码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获得登录页面路由地址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从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main.ts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中找到路由文件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从路由文件中找到登录视图组件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从登录视图组件中找到登录方法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跟踪登录方法的执行过程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8655582-253D-E4D8-B8AA-02322EB0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153" y="1901372"/>
            <a:ext cx="5089544" cy="346896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2E5881-F3B8-C95D-43C9-028BE398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53" y="1901372"/>
            <a:ext cx="5315223" cy="417216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43640F8-8697-62E6-8693-38F0303D8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153" y="1901371"/>
            <a:ext cx="6366414" cy="426294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AF1AC13-16CF-9BD3-855D-D0325BFC8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153" y="1901370"/>
            <a:ext cx="4868826" cy="433834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D573B4A-6C46-D458-1F34-43E20AC9E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085" y="1519422"/>
            <a:ext cx="5092962" cy="473734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8093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17382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前端环境搭建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员工分页查询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启用、禁用员工账号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新增员工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修改员工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894291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员工分页查询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0208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产品原型：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BA5A24-589A-D9FA-8C4E-5E49C2F81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83" y="2390034"/>
            <a:ext cx="6128265" cy="4027572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74E441B-A640-6F02-328B-23D9AF4E5E9A}"/>
              </a:ext>
            </a:extLst>
          </p:cNvPr>
          <p:cNvSpPr txBox="1"/>
          <p:nvPr/>
        </p:nvSpPr>
        <p:spPr>
          <a:xfrm>
            <a:off x="7129918" y="2390034"/>
            <a:ext cx="5062082" cy="1864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业务规则：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根据页码展示员工信息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每页展示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条数据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分页查询时可以根据需要，输入员工姓名进行查询</a:t>
            </a:r>
            <a:endParaRPr 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6723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5761A-045A-9E38-2EC2-E2728F165107}"/>
              </a:ext>
            </a:extLst>
          </p:cNvPr>
          <p:cNvSpPr txBox="1"/>
          <p:nvPr/>
        </p:nvSpPr>
        <p:spPr>
          <a:xfrm>
            <a:off x="710565" y="1675765"/>
            <a:ext cx="1060196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接口设计：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3F3A19-A8CE-0E5B-87C3-BACAB1620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603" y="2805712"/>
            <a:ext cx="2767653" cy="373973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8041A8-7232-769A-C7F5-F0775781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148" y="938335"/>
            <a:ext cx="4769095" cy="558828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7092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员工分页查询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702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从路由文件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router.ts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中找到员工管理页面（组件）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0EC335-DEF4-2EC7-014E-E63847BDD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772" y="2518398"/>
            <a:ext cx="5275769" cy="182500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12B3DAD-CAFE-68CD-0566-B8963A231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370" y="1763648"/>
            <a:ext cx="3365464" cy="464508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1E590E63-76E1-CE93-2E9B-EB2BB771E434}"/>
              </a:ext>
            </a:extLst>
          </p:cNvPr>
          <p:cNvSpPr/>
          <p:nvPr/>
        </p:nvSpPr>
        <p:spPr>
          <a:xfrm>
            <a:off x="6495393" y="2956034"/>
            <a:ext cx="457200" cy="252248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777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制作页面头部效果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3A331-B3FA-6DCB-4820-165306D86411}"/>
              </a:ext>
            </a:extLst>
          </p:cNvPr>
          <p:cNvSpPr/>
          <p:nvPr/>
        </p:nvSpPr>
        <p:spPr>
          <a:xfrm>
            <a:off x="6382410" y="3429001"/>
            <a:ext cx="4835942" cy="222293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输入框和按钮都是使用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ElementUI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提供的组件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对于前端的组件只需要参考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ElementUI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提供的文档，进行修改即可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D75139-1975-1EF0-6CBF-189815434720}"/>
              </a:ext>
            </a:extLst>
          </p:cNvPr>
          <p:cNvSpPr/>
          <p:nvPr/>
        </p:nvSpPr>
        <p:spPr>
          <a:xfrm>
            <a:off x="6282480" y="3501462"/>
            <a:ext cx="1001189" cy="292013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DBEF4B4-05A5-F626-868F-2216FE18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79" y="2518398"/>
            <a:ext cx="10656859" cy="41398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77618A3-7C4E-D59B-A087-F2837C1DE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80" y="3429000"/>
            <a:ext cx="5404128" cy="177174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9671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 查询 按钮绑定事件，发送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811373-2DE6-A921-0792-9E68F6A3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28" y="2594912"/>
            <a:ext cx="7242400" cy="1988917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241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定义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pageQuery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667886-1E9B-9B77-6B94-D5BE16C8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66" y="2565694"/>
            <a:ext cx="2897305" cy="260532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BD03FE2-9972-D5B7-4167-4B86081FAC33}"/>
              </a:ext>
            </a:extLst>
          </p:cNvPr>
          <p:cNvSpPr/>
          <p:nvPr/>
        </p:nvSpPr>
        <p:spPr>
          <a:xfrm>
            <a:off x="5499541" y="2565694"/>
            <a:ext cx="4835942" cy="222293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先验证当前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pageQuery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方法能否正常执行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按照规范，真正发送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请求的代码需要封装到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目录下的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文件中（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src/api/employee.ts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27B383-1EF2-93E7-C088-EAF1C7F16F66}"/>
              </a:ext>
            </a:extLst>
          </p:cNvPr>
          <p:cNvSpPr/>
          <p:nvPr/>
        </p:nvSpPr>
        <p:spPr>
          <a:xfrm>
            <a:off x="5399611" y="2638155"/>
            <a:ext cx="1001189" cy="292013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3138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src/api/employee.ts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中定义方法，发送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请求获取分页数据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0665CA-49C5-C17A-F4A9-6DB1A9E2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10" y="2648019"/>
            <a:ext cx="4784275" cy="194109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F016A68-8F6E-8317-5FF3-C55792351AC0}"/>
              </a:ext>
            </a:extLst>
          </p:cNvPr>
          <p:cNvSpPr/>
          <p:nvPr/>
        </p:nvSpPr>
        <p:spPr>
          <a:xfrm>
            <a:off x="6573738" y="2648020"/>
            <a:ext cx="4835942" cy="1935810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发送的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Ajax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阿里巴巴普惠体" panose="00020600040101010101"/>
              </a:rPr>
              <a:t>请求需要和前面我们设计的分页查询接口对应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6C3A8F-060F-E4BA-9CE1-49E27BF6EA79}"/>
              </a:ext>
            </a:extLst>
          </p:cNvPr>
          <p:cNvSpPr/>
          <p:nvPr/>
        </p:nvSpPr>
        <p:spPr>
          <a:xfrm>
            <a:off x="6473808" y="2720480"/>
            <a:ext cx="1001189" cy="292013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454745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在员工管理组件中导入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中定义的方法，并在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data()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方法中定义分页相关的模型数据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1CDCB3-9A0B-CE1E-1296-E1C25462F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584" y="2648020"/>
            <a:ext cx="4411050" cy="254013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54C7FA2-5771-9966-161B-6A2F75AD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525" y="2648020"/>
            <a:ext cx="4210650" cy="150619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98F567B-ACA6-D109-9505-2765A61C14E4}"/>
              </a:ext>
            </a:extLst>
          </p:cNvPr>
          <p:cNvSpPr txBox="1"/>
          <p:nvPr/>
        </p:nvSpPr>
        <p:spPr>
          <a:xfrm>
            <a:off x="6337525" y="4532596"/>
            <a:ext cx="4368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注意：需要将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name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ea typeface="阿里巴巴普惠体" panose="00020600040101010101"/>
              </a:rPr>
              <a:t>属性和上面的输入框进行双向绑定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24235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pageQuery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方法中调用 </a:t>
            </a:r>
            <a:r>
              <a:rPr lang="en-US" altLang="zh-CN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getEmployeeList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 </a:t>
            </a: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/>
              </a:rPr>
              <a:t>方法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4E0DD4-0628-4CB9-F6C8-A096CCD28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82" y="2521476"/>
            <a:ext cx="4429231" cy="415027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94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</a:rPr>
              <a:t>提供 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</a:rPr>
              <a:t>vue </a:t>
            </a: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</a:rPr>
              <a:t>的初始化方法，在页面加载后就查询分页数据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A90272-282D-2D5D-B580-7B065859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78" y="2570408"/>
            <a:ext cx="2410990" cy="100529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025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</a:rPr>
              <a:t>使用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</a:rPr>
              <a:t> ElementUI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</a:rPr>
              <a:t>提供的表格组件展示分页数据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AA8A93B-4947-595E-6E7C-2D362202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67" y="2020448"/>
            <a:ext cx="4625980" cy="448223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1458B4-14A3-80DB-4EAF-C0A6E71DBCFE}"/>
              </a:ext>
            </a:extLst>
          </p:cNvPr>
          <p:cNvSpPr txBox="1"/>
          <p:nvPr/>
        </p:nvSpPr>
        <p:spPr>
          <a:xfrm>
            <a:off x="805473" y="4871976"/>
            <a:ext cx="5800279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动态展示启用、禁用按钮：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如果当前员工的状态为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启用，则展示为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【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禁用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】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按钮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如果当前员工的状态为 禁用，则展示为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【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启用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】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按钮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841278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阿里巴巴普惠体" panose="00020600040101010101"/>
              </a:rPr>
              <a:t>使用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</a:rPr>
              <a:t> ElementUI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</a:rPr>
              <a:t>提供的分页条组件，并绑定事件处理函数</a:t>
            </a:r>
            <a:endParaRPr lang="en-US" altLang="zh-CN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334F7C-21B0-8F7D-9C37-A44E9B5C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7" y="2502317"/>
            <a:ext cx="4865142" cy="2114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2584D2A-5AAD-81EB-DBC8-E6598252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652" y="2502318"/>
            <a:ext cx="4013886" cy="2114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420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员工分页查询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760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E313C4C-1BAF-271C-2127-531790089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03" y="2850743"/>
            <a:ext cx="9395750" cy="34498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4793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17382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前端环境搭建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员工分页查询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启用、禁用员工账号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新增员工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修改员工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88210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启用、禁用员工账号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8827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C89A11-AE13-0695-F262-EECE5977A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982" y="2447787"/>
            <a:ext cx="8603555" cy="4025841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268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96711C-C1EC-263F-3AAD-8D5FE968502D}"/>
              </a:ext>
            </a:extLst>
          </p:cNvPr>
          <p:cNvSpPr/>
          <p:nvPr/>
        </p:nvSpPr>
        <p:spPr>
          <a:xfrm>
            <a:off x="910590" y="1886079"/>
            <a:ext cx="10499090" cy="215184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可以对状态为“启用” 的员工账号进行“禁用”操作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可以对状态为“禁用”的员工账号进行“启用”操作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状态为“禁用”的员工账号不能登录系统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09CF79-45BC-396D-3533-89296A8708E9}"/>
              </a:ext>
            </a:extLst>
          </p:cNvPr>
          <p:cNvSpPr/>
          <p:nvPr/>
        </p:nvSpPr>
        <p:spPr>
          <a:xfrm>
            <a:off x="810662" y="195854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业务规则</a:t>
            </a:r>
          </a:p>
        </p:txBody>
      </p:sp>
    </p:spTree>
    <p:extLst>
      <p:ext uri="{BB962C8B-B14F-4D97-AF65-F5344CB8AC3E}">
        <p14:creationId xmlns:p14="http://schemas.microsoft.com/office/powerpoint/2010/main" val="2087164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01878B-9029-776C-8F07-B48ED2D3B2E4}"/>
              </a:ext>
            </a:extLst>
          </p:cNvPr>
          <p:cNvSpPr txBox="1"/>
          <p:nvPr/>
        </p:nvSpPr>
        <p:spPr>
          <a:xfrm>
            <a:off x="794385" y="1607820"/>
            <a:ext cx="10414000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接口设计：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FE95CB-1493-7C02-74DE-03A2B828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302" y="1816915"/>
            <a:ext cx="3368252" cy="17919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6EEB3D-A1CB-1BE4-5F0A-26570BA91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15" y="1791514"/>
            <a:ext cx="3368252" cy="496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1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启用、禁用员工账号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275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5800279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为启用、禁用按钮绑定单击事件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C2DB25-59CC-55B0-EA65-5C4DE4C31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618" y="2518398"/>
            <a:ext cx="6628949" cy="65835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63B2EB4-3E4B-49F9-43D4-69C8EE28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8" y="4392757"/>
            <a:ext cx="4092334" cy="95963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65D1A45-B30C-D85F-FEBE-9312EC2003A4}"/>
              </a:ext>
            </a:extLst>
          </p:cNvPr>
          <p:cNvSpPr txBox="1"/>
          <p:nvPr/>
        </p:nvSpPr>
        <p:spPr>
          <a:xfrm>
            <a:off x="710880" y="3681249"/>
            <a:ext cx="5800279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编写处理函数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978564-8A60-77D7-E1F8-B2A99614D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159" y="4269294"/>
            <a:ext cx="4261069" cy="120656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352A5D10-D312-B9BF-EC51-5D5D44C3EC96}"/>
              </a:ext>
            </a:extLst>
          </p:cNvPr>
          <p:cNvSpPr/>
          <p:nvPr/>
        </p:nvSpPr>
        <p:spPr>
          <a:xfrm>
            <a:off x="5390355" y="4617313"/>
            <a:ext cx="914400" cy="510524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/>
              <a:t>页面效果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575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中封装启用禁用员工账号方法，发送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56B273-821F-8E0F-D450-38D411153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30" y="2663894"/>
            <a:ext cx="5735804" cy="198773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2D28888-AD9E-4444-5F64-752736473319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0BAC05-0CEE-7710-62A6-ED8EF2D29621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2637019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完善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handleStartOrStop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EC6C9D-F73E-F6EB-2F21-97A2C74D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50" y="2518398"/>
            <a:ext cx="6091978" cy="411678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81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代码优化：如果是管理员账号则不允许更改账号状态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74B60B-D93B-51F9-7700-1E76C095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91" y="2494571"/>
            <a:ext cx="5340624" cy="417851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549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启用、禁用员工账号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04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AA0AEB-23C1-1BD4-036E-04E1DEB00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21" y="2689305"/>
            <a:ext cx="8119242" cy="38862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0194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17382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前端环境搭建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员工分页查询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启用、禁用员工账号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新增员工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修改员工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49390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814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6DFD25-A1C4-569A-A5ED-862D49B8A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026" y="2418955"/>
            <a:ext cx="8253054" cy="4180218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DCE5C5C-596D-0EB7-7C29-DA9F5805FED0}"/>
              </a:ext>
            </a:extLst>
          </p:cNvPr>
          <p:cNvSpPr txBox="1"/>
          <p:nvPr/>
        </p:nvSpPr>
        <p:spPr>
          <a:xfrm>
            <a:off x="5295707" y="3116706"/>
            <a:ext cx="4705185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账号必须是唯一的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F31BF7-4111-EEDF-87D6-63B9E568BB3F}"/>
              </a:ext>
            </a:extLst>
          </p:cNvPr>
          <p:cNvSpPr txBox="1"/>
          <p:nvPr/>
        </p:nvSpPr>
        <p:spPr>
          <a:xfrm>
            <a:off x="5295705" y="4519591"/>
            <a:ext cx="4705185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身份证号为合法的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18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位身份证号码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A0E757-7F1F-8CB4-2989-EE85286ADBBC}"/>
              </a:ext>
            </a:extLst>
          </p:cNvPr>
          <p:cNvSpPr txBox="1"/>
          <p:nvPr/>
        </p:nvSpPr>
        <p:spPr>
          <a:xfrm>
            <a:off x="5295706" y="3902052"/>
            <a:ext cx="4705185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手机号为合法的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11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位手机号码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D6C1D5-D890-E080-3AF3-820549821EC5}"/>
              </a:ext>
            </a:extLst>
          </p:cNvPr>
          <p:cNvSpPr txBox="1"/>
          <p:nvPr/>
        </p:nvSpPr>
        <p:spPr>
          <a:xfrm>
            <a:off x="5295704" y="5158968"/>
            <a:ext cx="4705185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密码默认为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054043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接口设计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29D1C3-32C2-198E-8A99-2078F9DD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08" y="1837418"/>
            <a:ext cx="3538307" cy="481872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40A8AB9-92E8-CE5E-6FBC-40378596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559" y="1837418"/>
            <a:ext cx="3562533" cy="177809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8033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5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987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添加员工操作步骤：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 “添加员工”按钮，跳转到新增页面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在新增员工页面录入员工相关信息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点击“保存”按钮完成新增操作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729209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 “添加员工”按钮绑定单击事件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35C6E8-FA2F-EA42-5A54-2891F8730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37" y="2518398"/>
            <a:ext cx="7912584" cy="227431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6908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提供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handleAddEmp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方法，进行路由跳转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1F20B0-0C94-7CC8-4CDF-2587013A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94" y="2486867"/>
            <a:ext cx="3433194" cy="94213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DB57E98-FF62-BD85-9E0A-F11DE418E37F}"/>
              </a:ext>
            </a:extLst>
          </p:cNvPr>
          <p:cNvSpPr/>
          <p:nvPr/>
        </p:nvSpPr>
        <p:spPr>
          <a:xfrm>
            <a:off x="910590" y="3880426"/>
            <a:ext cx="10499090" cy="2583436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在路由文件中已经配置了如下路由规则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7C6351-D805-F36D-5412-47E36A155F36}"/>
              </a:ext>
            </a:extLst>
          </p:cNvPr>
          <p:cNvSpPr/>
          <p:nvPr/>
        </p:nvSpPr>
        <p:spPr>
          <a:xfrm>
            <a:off x="810662" y="3952889"/>
            <a:ext cx="876248" cy="28015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62BCA6-9A3A-EAAE-65B9-39FC8FA91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11" y="4886355"/>
            <a:ext cx="4635738" cy="149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2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根据产品原型，开发页面元素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EF4F85-BDDE-6DF6-6DBD-B7C6FE92F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23" y="2387424"/>
            <a:ext cx="7898553" cy="4000661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75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根据产品原型，开发页面元素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hlinkClick r:id="rId2"/>
            <a:extLst>
              <a:ext uri="{FF2B5EF4-FFF2-40B4-BE49-F238E27FC236}">
                <a16:creationId xmlns:a16="http://schemas.microsoft.com/office/drawing/2014/main" id="{F00B9B37-0BD7-5D6B-FE31-3F8C7518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035" y="1519422"/>
            <a:ext cx="6842234" cy="482776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8615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定义模型数据和表单校验规则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2A6D91-83CD-35A3-78AF-80C45D72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04" y="1319760"/>
            <a:ext cx="6721420" cy="4952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6277573-3CF0-B5DF-CDE4-C112B2F90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05" y="4082472"/>
            <a:ext cx="3530573" cy="2189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6782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03E250-BD76-C19F-8142-403C7F74DAF5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中封装新增员工方法，发送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Ajax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请求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7A49D-70E2-5EB1-DD71-F592C60B5470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C59830-A37A-9B50-47BF-78C719E204C8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A64F3F4-96C7-3B14-9867-1EC2A8FB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2" y="2518398"/>
            <a:ext cx="4309951" cy="1919960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3746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03E250-BD76-C19F-8142-403C7F74DAF5}"/>
              </a:ext>
            </a:extLst>
          </p:cNvPr>
          <p:cNvSpPr txBox="1"/>
          <p:nvPr/>
        </p:nvSpPr>
        <p:spPr>
          <a:xfrm>
            <a:off x="710880" y="1763648"/>
            <a:ext cx="1049052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methods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中定义提交表单的方法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D03EBF-47F9-4DA5-FBBC-C7EC25E9C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481" y="1260827"/>
            <a:ext cx="4768202" cy="525623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0856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新增员工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338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1397596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4D2954-D48C-E398-816E-76C84B0C87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2027584"/>
            <a:ext cx="5973761" cy="3017382"/>
          </a:xfrm>
        </p:spPr>
        <p:txBody>
          <a:bodyPr/>
          <a:lstStyle/>
          <a:p>
            <a:r>
              <a:rPr lang="zh-CN" altLang="en-US">
                <a:ea typeface="阿里巴巴普惠体" panose="00020600040101010101"/>
              </a:rPr>
              <a:t>前端环境搭建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员工分页查询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启用、禁用员工账号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新增员工</a:t>
            </a:r>
            <a:endParaRPr lang="en-US" altLang="zh-CN">
              <a:ea typeface="阿里巴巴普惠体" panose="00020600040101010101"/>
            </a:endParaRPr>
          </a:p>
          <a:p>
            <a:r>
              <a:rPr lang="zh-CN" altLang="en-US">
                <a:ea typeface="阿里巴巴普惠体" panose="00020600040101010101"/>
              </a:rPr>
              <a:t>修改员工</a:t>
            </a:r>
            <a:endParaRPr lang="en-US" altLang="zh-CN"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904778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668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产品原型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F16BED-0E1F-2B06-8F9C-4FADFBE6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80" y="2451513"/>
            <a:ext cx="5883998" cy="3606835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D43FB94-0A9A-F879-500D-064205BD5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80" y="2451679"/>
            <a:ext cx="7183855" cy="3720521"/>
          </a:xfrm>
          <a:prstGeom prst="roundRect">
            <a:avLst>
              <a:gd name="adj" fmla="val 0"/>
            </a:avLst>
          </a:prstGeom>
          <a:ln w="3175">
            <a:solidFill>
              <a:schemeClr val="tx1"/>
            </a:solidFill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633E95A-F08E-DD11-7907-F386C534EACC}"/>
              </a:ext>
            </a:extLst>
          </p:cNvPr>
          <p:cNvSpPr/>
          <p:nvPr/>
        </p:nvSpPr>
        <p:spPr>
          <a:xfrm>
            <a:off x="6979461" y="4054346"/>
            <a:ext cx="318469" cy="206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113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需求分析和接口设计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167AE5-F5CD-12A3-0EAE-BB709E1D0001}"/>
              </a:ext>
            </a:extLst>
          </p:cNvPr>
          <p:cNvSpPr txBox="1"/>
          <p:nvPr/>
        </p:nvSpPr>
        <p:spPr>
          <a:xfrm>
            <a:off x="794385" y="1607820"/>
            <a:ext cx="10057130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编辑员工功能涉及到两个接口：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查询员工信息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编辑员工信息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BB99E0-807B-466D-5269-651D21AB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466" y="3143876"/>
            <a:ext cx="1944342" cy="3381178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07397D8-7890-3F17-F5BF-498A9E36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679" y="981219"/>
            <a:ext cx="4457929" cy="554383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6D66C4-E8CE-9CEF-31BC-F176BEAB8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058" y="1163406"/>
            <a:ext cx="3778444" cy="528982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9578D3A-E46E-CD0F-FB69-D6B145619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643" y="4697345"/>
            <a:ext cx="3448227" cy="176539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0599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62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987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修改员工操作步骤：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 “修改”按钮，跳转到修改页面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在修改员工页面录入员工相关信息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800100" lvl="1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点击“保存”按钮完成修改操作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7CED3F-9AF5-2FE4-5AF1-289F067291F8}"/>
              </a:ext>
            </a:extLst>
          </p:cNvPr>
          <p:cNvSpPr/>
          <p:nvPr/>
        </p:nvSpPr>
        <p:spPr>
          <a:xfrm>
            <a:off x="910589" y="5078605"/>
            <a:ext cx="10698799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由于添加员工和修改员工的表单项非常类似，所以添加和修改操作可以共用同一个页面（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addEmployee.vue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修改员工涉及到原始数据回显，所以需要传递员工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作为参数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C2D32-E61C-8775-3BED-A94486DCB028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3030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在员工管理页面中，为“修改”按钮绑定单击事件，用于跳转到修改页面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302B05-139B-E28E-A02D-54506F52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27" y="2586845"/>
            <a:ext cx="6554093" cy="63720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B039859-F295-2FCD-4B9E-61E97900C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27" y="3883449"/>
            <a:ext cx="6264307" cy="221410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539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1495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由于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addEmployee.vue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为新增和修改共用页面，需要能够区分当前操作：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如果路由中传递了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id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参数，则当前操作为修改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如果路由中没有传递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id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参数，则当前操作为新增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80CB7E-537A-F60D-502D-C22428310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83" y="3428999"/>
            <a:ext cx="5143747" cy="326650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383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如果是修改操作，需要根据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id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查询员工原始信息用于页面回显，在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中创建如下方法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4F699F-AB8D-001D-CE91-0965F1103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93" y="2574561"/>
            <a:ext cx="5167344" cy="1831901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CCA9E07-A32A-7DB5-8C5F-6B775C51DA21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2F251F-2AD5-2426-1799-51FA6ED7942E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140245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在修改员工页面的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created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方法中查询员工原始信息用于页面数据回显 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45FF2C-5CD8-B082-FFB1-01B711BF0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89" y="2518398"/>
            <a:ext cx="5945577" cy="311115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0082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如果是修改操作，“保存并继续添加员工”按钮则不需要显示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3BDA2F-B89A-E0B0-D3AE-55701FBDE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217" y="2617040"/>
            <a:ext cx="7523750" cy="196678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5830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在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employee.ts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中创建方法，用于修改员工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3DA84B-1B86-B26C-998F-58DE8A0E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09" y="2577185"/>
            <a:ext cx="5101638" cy="200664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76A7236-ABEB-E56A-1EAB-62186E390C92}"/>
              </a:ext>
            </a:extLst>
          </p:cNvPr>
          <p:cNvSpPr/>
          <p:nvPr/>
        </p:nvSpPr>
        <p:spPr>
          <a:xfrm>
            <a:off x="910590" y="5078605"/>
            <a:ext cx="10499090" cy="1416788"/>
          </a:xfrm>
          <a:prstGeom prst="rect">
            <a:avLst/>
          </a:prstGeom>
          <a:noFill/>
          <a:ln w="9525">
            <a:solidFill>
              <a:srgbClr val="AD2B2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>
              <a:solidFill>
                <a:schemeClr val="tx1">
                  <a:lumMod val="65000"/>
                  <a:lumOff val="35000"/>
                </a:schemeClr>
              </a:solidFill>
              <a:ea typeface="阿里巴巴普惠体" panose="00020600040101010101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发送请求的方式和相关参数，必须和前面的接口设计保持一致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使用此方法时，别忘了在组件中通过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FD24A3-DA8D-2925-0D56-FDB76D008C06}"/>
              </a:ext>
            </a:extLst>
          </p:cNvPr>
          <p:cNvSpPr/>
          <p:nvPr/>
        </p:nvSpPr>
        <p:spPr>
          <a:xfrm>
            <a:off x="810662" y="5151068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254642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A52A6D-1532-DBBA-86F2-EEBF5430F589}"/>
              </a:ext>
            </a:extLst>
          </p:cNvPr>
          <p:cNvSpPr txBox="1"/>
          <p:nvPr/>
        </p:nvSpPr>
        <p:spPr>
          <a:xfrm>
            <a:off x="710879" y="1763648"/>
            <a:ext cx="10435341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修改 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submitForm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方法，需要根据当前操作类型执行新增或者修改操作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ABAC09-E58A-95FD-F708-4DEBF9D6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712" y="2441472"/>
            <a:ext cx="4391571" cy="423163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0758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6D01502-ACB2-54E0-107D-1052531CC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248" y="2768759"/>
            <a:ext cx="4865097" cy="548322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修改员工</a:t>
            </a:r>
            <a:endParaRPr lang="en-US" alt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BC215AD-75EB-79CC-7355-18954962CD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6CF46F7E-1513-13C2-D649-6B26F853429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81833" y="3340750"/>
            <a:ext cx="5466080" cy="2579202"/>
          </a:xfrm>
        </p:spPr>
        <p:txBody>
          <a:bodyPr/>
          <a:lstStyle/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需求分析和接口设计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代码开发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  <a:p>
            <a:r>
              <a:rPr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功能测试</a:t>
            </a:r>
            <a:endParaRPr lang="en-US" altLang="zh-CN"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2331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5BB6551-2E7F-6081-6B28-3118024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功能测试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24EDB6-F80B-B549-6E36-C92B144D24BD}"/>
              </a:ext>
            </a:extLst>
          </p:cNvPr>
          <p:cNvSpPr txBox="1"/>
          <p:nvPr/>
        </p:nvSpPr>
        <p:spPr>
          <a:xfrm>
            <a:off x="710880" y="1763648"/>
            <a:ext cx="10490520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直接进行前后端联调，查看页面效果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通过浏览器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F12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/>
                <a:ea typeface="阿里巴巴普惠体" panose="00020600040101010101"/>
              </a:rPr>
              <a:t>查看数据交互过程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/>
              <a:ea typeface="阿里巴巴普惠体" panose="0002060004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663120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0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108365</TotalTime>
  <Words>1437</Words>
  <Application>Microsoft Office PowerPoint</Application>
  <PresentationFormat>宽屏</PresentationFormat>
  <Paragraphs>277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70</vt:i4>
      </vt:variant>
    </vt:vector>
  </HeadingPairs>
  <TitlesOfParts>
    <vt:vector size="92" baseType="lpstr">
      <vt:lpstr>Alibaba PuHuiTi B</vt:lpstr>
      <vt:lpstr>Alibaba PuHuiTi M</vt:lpstr>
      <vt:lpstr>Alibaba PuHuiTi Medium</vt:lpstr>
      <vt:lpstr>Alibaba PuHuiTi R</vt:lpstr>
      <vt:lpstr>阿里巴巴普惠体</vt:lpstr>
      <vt:lpstr>等线</vt:lpstr>
      <vt:lpstr>黑体</vt:lpstr>
      <vt:lpstr>STKaiti</vt:lpstr>
      <vt:lpstr>STKaiti</vt:lpstr>
      <vt:lpstr>Arial</vt:lpstr>
      <vt:lpstr>Calibri</vt:lpstr>
      <vt:lpstr>Consolas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前端环境搭建、员工管理</vt:lpstr>
      <vt:lpstr>效果展示</vt:lpstr>
      <vt:lpstr>PowerPoint 演示文稿</vt:lpstr>
      <vt:lpstr>前端环境搭建</vt:lpstr>
      <vt:lpstr>技术选型</vt:lpstr>
      <vt:lpstr>前端环境搭建</vt:lpstr>
      <vt:lpstr>熟悉前端代码结构</vt:lpstr>
      <vt:lpstr>熟悉前端代码结构</vt:lpstr>
      <vt:lpstr>熟悉前端代码结构</vt:lpstr>
      <vt:lpstr>熟悉前端代码结构</vt:lpstr>
      <vt:lpstr>PowerPoint 演示文稿</vt:lpstr>
      <vt:lpstr>员工分页查询</vt:lpstr>
      <vt:lpstr>需求分析和接口设计</vt:lpstr>
      <vt:lpstr>需求分析和接口设计</vt:lpstr>
      <vt:lpstr>员工分页查询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员工分页查询</vt:lpstr>
      <vt:lpstr>功能测试</vt:lpstr>
      <vt:lpstr>PowerPoint 演示文稿</vt:lpstr>
      <vt:lpstr>启用、禁用员工账号</vt:lpstr>
      <vt:lpstr>需求分析和接口设计</vt:lpstr>
      <vt:lpstr>需求分析和接口设计</vt:lpstr>
      <vt:lpstr>需求分析和接口设计</vt:lpstr>
      <vt:lpstr>启用、禁用员工账号</vt:lpstr>
      <vt:lpstr>代码开发</vt:lpstr>
      <vt:lpstr>代码开发</vt:lpstr>
      <vt:lpstr>代码开发</vt:lpstr>
      <vt:lpstr>代码开发</vt:lpstr>
      <vt:lpstr>启用、禁用员工账号</vt:lpstr>
      <vt:lpstr>功能测试</vt:lpstr>
      <vt:lpstr>PowerPoint 演示文稿</vt:lpstr>
      <vt:lpstr>新增员工</vt:lpstr>
      <vt:lpstr>需求分析和接口设计</vt:lpstr>
      <vt:lpstr>需求分析和接口设计</vt:lpstr>
      <vt:lpstr>新增员工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新增员工</vt:lpstr>
      <vt:lpstr>功能测试</vt:lpstr>
      <vt:lpstr>PowerPoint 演示文稿</vt:lpstr>
      <vt:lpstr>修改员工</vt:lpstr>
      <vt:lpstr>需求分析和接口设计</vt:lpstr>
      <vt:lpstr>需求分析和接口设计</vt:lpstr>
      <vt:lpstr>修改员工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代码开发</vt:lpstr>
      <vt:lpstr>修改员工</vt:lpstr>
      <vt:lpstr>功能测试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itcast</cp:lastModifiedBy>
  <cp:revision>10962</cp:revision>
  <dcterms:created xsi:type="dcterms:W3CDTF">2020-03-31T02:23:27Z</dcterms:created>
  <dcterms:modified xsi:type="dcterms:W3CDTF">2023-08-14T08:09:44Z</dcterms:modified>
</cp:coreProperties>
</file>